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0CA7-233F-DC96-3C4A-F8C164DCE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DEF1D-3095-9393-29C5-32FF8F349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F3AC2-9DC3-DF8F-03EF-DB98F54F1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01707-EB79-AFD6-E7E0-74EF8565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BA146-1FEF-DF30-66BC-C2540A1D7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37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6D68-D5E6-D125-F5EA-6DC5544D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D8A25-CB05-E905-D52E-04A57B79B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02725-3669-E38A-C132-16BEDADE7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67275-95B1-1116-A0E0-B471BD37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5B121-D156-82F3-1803-E8505435F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08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6A14-5DD7-0F57-3579-5A9154F70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FE248-C6BB-CDE5-62B1-213D7F4E6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54E5B-B82F-119E-C1A6-90776B51E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7C554-4E28-3BF1-74B6-EF560A4D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8BB95-F037-3E12-1502-CA637A765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1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AA770-55F0-90E3-3A69-A9BE9130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4FB8C-B65B-F9F9-1EAF-6D538DDD0D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C441D-6634-A0BD-F11E-AE0A5CD41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31F37-F1BC-4468-98EB-FF4F4444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12EA8-D7B1-663C-8AAA-8D1FE42D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DAF65-E1EF-BE74-1E03-BF2164243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3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FA3E7-D2E9-D5E0-B919-79A031BE4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860AE-DE9E-1B7D-612F-5D6DB393F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B3DAD-56DE-2D5F-5E0D-3B31B7EFE4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E2114-5BC2-8EEA-F58A-FA78FDAC88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B3A3D-7F1C-A7F4-3A37-E0C37AEFA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95DC0-2C60-A6B3-F49E-6CB01F1E7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96E794-C00E-A67E-E5B9-7B2A42A0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00A24-DE63-E19B-78A7-1488646DE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0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66A0-773F-6C95-D384-D3E8709C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93F29-B0EB-C08E-4DDC-5298EA434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B3D018-A34B-8EA8-67C2-B0717A792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F2A68-913D-124F-6A9C-1B79AD53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0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3885D-5585-8787-D0A2-A9B9F065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D73838-33B9-BA95-D374-1099D99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B6C61-35B0-2F3A-3B37-97AB94FD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35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9E3C2-D491-41C0-5D13-2D24A97B9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81433-4E5D-9C6F-6DBD-9E4133A86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2ACBB-D9DC-80A7-6B91-08AAB6E9A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60FC7-1F09-C9C2-DEFE-B7BAA7DC0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237AE-DF90-5BB9-C7E9-9F87D2F4A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539E1-ADD7-2D4E-56E2-4FE449E21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8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5F26-02D4-EC2D-0972-26CCA87F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87D7AA-04BC-B3A2-B001-53F028D79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23438-76C8-DFE8-8974-57C2F0D00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3C530-41CD-9924-5BBE-C5FEC6188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E7E8C-4487-6ADF-9C2B-117F775E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B7D8F-454A-1736-BCB0-346A129B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088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94459-5AEC-A59C-6742-4B312E561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B3B3F-F150-F0F8-1C1B-45FCD5FB8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E785E-F8D4-6B72-DDA4-54BC3FBE9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9353B-E76B-1C0F-5A31-E2EBE36E1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8AD3C-E691-13F0-7074-F967C8FD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5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C11B92-A227-0835-C3D0-AD78D64976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7EE007-62CC-379D-FF1E-3EA7E17E2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79ADC-1623-EE52-F49E-421619B4F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0968D-58BB-CC6F-774F-19B5CD963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5BF13-B932-5323-9781-721F4DEE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11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78030-9A2B-BAE1-7CDB-C0A36CEC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C64F0-18B9-C63B-0C55-9890997FB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2EE62-97A0-A403-0BCA-6C8DC1BD9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DCFA49-70BE-4DA7-A449-66FE3B32C208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CDDCA-D685-4C58-58A9-F71CB31D8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ED16A-E2F5-5D68-82B9-D481F7AB2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5BC5B-B4F1-4C60-8F36-FAA7D53F1A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48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4510-1155-D4D7-D2E2-932AC0F9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40" y="182245"/>
            <a:ext cx="10515600" cy="356235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+mn-lt"/>
              </a:rPr>
              <a:t>Budget Preparation Calendar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7560D6-FFA6-C3D3-46E1-A1911278C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207748"/>
              </p:ext>
            </p:extLst>
          </p:nvPr>
        </p:nvGraphicFramePr>
        <p:xfrm>
          <a:off x="269240" y="709506"/>
          <a:ext cx="11607800" cy="563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929814765"/>
                    </a:ext>
                  </a:extLst>
                </a:gridCol>
                <a:gridCol w="4897120">
                  <a:extLst>
                    <a:ext uri="{9D8B030D-6E8A-4147-A177-3AD203B41FA5}">
                      <a16:colId xmlns:a16="http://schemas.microsoft.com/office/drawing/2014/main" val="148379072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717817336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810870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Month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Activity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Stakeholders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Output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70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Carry out the macroeconomic projections 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MPI, MoF, 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Lao Academia for Socio-Economic Research, </a:t>
                      </a:r>
                      <a:r>
                        <a:rPr lang="en-US" sz="15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BoL</a:t>
                      </a: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MoIC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Macroeconomic projections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28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Macroeconomic projections shared with MoF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650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Forecast/estimation of the overall medium-term resource envelope for the State Budget Plan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Notify MPI the public investment envelop 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MoF</a:t>
                      </a:r>
                    </a:p>
                    <a:p>
                      <a:endParaRPr lang="en-US" sz="1500" dirty="0"/>
                    </a:p>
                    <a:p>
                      <a:endParaRPr lang="en-US" sz="1500" dirty="0"/>
                    </a:p>
                    <a:p>
                      <a:r>
                        <a:rPr lang="en-US" sz="1500" dirty="0"/>
                        <a:t>MPI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Medium-term state budget revenue</a:t>
                      </a:r>
                    </a:p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Medium-term state budget expenditure </a:t>
                      </a:r>
                    </a:p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 budget balance</a:t>
                      </a:r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34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Notify the Tier 1 Budget Units the medium-term revenue figures and the medium-term recurrent budget ceilings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Notify the Tier 1 Budget Units the public investment ceilings and provide the public investment planning manual/guidelines 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Tier 1 SUs</a:t>
                      </a:r>
                    </a:p>
                    <a:p>
                      <a:endParaRPr lang="en-US" sz="1500" dirty="0"/>
                    </a:p>
                    <a:p>
                      <a:endParaRPr lang="en-US" sz="1500" dirty="0"/>
                    </a:p>
                    <a:p>
                      <a:r>
                        <a:rPr lang="en-US" sz="1500" dirty="0"/>
                        <a:t>Tier 1 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Tier 1 Recurrent Budget Ceilings and revenue figures</a:t>
                      </a:r>
                    </a:p>
                    <a:p>
                      <a:endParaRPr lang="en-US" sz="1500" dirty="0"/>
                    </a:p>
                    <a:p>
                      <a:r>
                        <a:rPr lang="en-US" sz="1500" dirty="0"/>
                        <a:t>Tier 1 Public investment ceilings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430042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r>
                        <a:rPr lang="en-US" sz="1500" dirty="0"/>
                        <a:t> 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500" dirty="0"/>
                        <a:t>Tier 1-Central allocate Budget ceilings to Tier 2 units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500" dirty="0"/>
                        <a:t>Tier 2-Provinces allocate Budget ceilings to Tier 2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NA, MoF, T1 SUs</a:t>
                      </a:r>
                    </a:p>
                    <a:p>
                      <a:endParaRPr lang="en-US" sz="1500" dirty="0"/>
                    </a:p>
                    <a:p>
                      <a:r>
                        <a:rPr lang="en-US" sz="1500" dirty="0"/>
                        <a:t>Provincial Assemblies, Finance Dept &amp; local offices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Tier 2 sub-ceilings for Central units</a:t>
                      </a:r>
                    </a:p>
                    <a:p>
                      <a:endParaRPr lang="en-US" sz="15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/>
                        <a:t>Tier 2 sub-ceilings for Provincial units</a:t>
                      </a:r>
                    </a:p>
                    <a:p>
                      <a:endParaRPr 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35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1500" dirty="0"/>
                        <a:t>Tier 2 SUs submit their MTB plans to Tier 1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Tier 2 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Tier 2 Medium term Budget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5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55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4510-1155-D4D7-D2E2-932AC0F9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40" y="182245"/>
            <a:ext cx="10515600" cy="356235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+mn-lt"/>
              </a:rPr>
              <a:t>Budget Preparation Calendar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47560D6-FFA6-C3D3-46E1-A1911278C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092763"/>
              </p:ext>
            </p:extLst>
          </p:nvPr>
        </p:nvGraphicFramePr>
        <p:xfrm>
          <a:off x="198120" y="866140"/>
          <a:ext cx="11607800" cy="544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2360">
                  <a:extLst>
                    <a:ext uri="{9D8B030D-6E8A-4147-A177-3AD203B41FA5}">
                      <a16:colId xmlns:a16="http://schemas.microsoft.com/office/drawing/2014/main" val="2929814765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1483790720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2717817336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810870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Month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Activity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Stakeholder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/>
                        <a:t>Output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574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Tier 1 consolidates the medium-term budget plans of all of its Tier 2 budget units and submit Budget policy statement to MoF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Tier 1 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Budget Policy statement-</a:t>
                      </a:r>
                    </a:p>
                    <a:p>
                      <a:pPr marL="342900" indent="-342900">
                        <a:buAutoNum type="alphaLcPeriod"/>
                      </a:pPr>
                      <a:r>
                        <a:rPr lang="en-US" sz="1500" dirty="0"/>
                        <a:t>Summary report of the execution of the annual state budget plan of the previous fiscal year</a:t>
                      </a:r>
                    </a:p>
                    <a:p>
                      <a:pPr marL="342900" indent="-342900">
                        <a:buAutoNum type="alphaLcPeriod"/>
                      </a:pPr>
                      <a:r>
                        <a:rPr lang="en-US" sz="1500" dirty="0"/>
                        <a:t>Summary report on the execution of the annual state budget plan for the current fiscal year</a:t>
                      </a:r>
                    </a:p>
                    <a:p>
                      <a:pPr marL="342900" indent="-342900">
                        <a:buAutoNum type="alphaLcPeriod"/>
                      </a:pPr>
                      <a:r>
                        <a:rPr lang="en-US" sz="1500" dirty="0"/>
                        <a:t>Medium-term budget revenue and expenditure policies</a:t>
                      </a:r>
                    </a:p>
                    <a:p>
                      <a:pPr marL="342900" indent="-342900">
                        <a:buAutoNum type="alphaLcPeriod"/>
                      </a:pPr>
                      <a:r>
                        <a:rPr lang="en-US" sz="1500" dirty="0"/>
                        <a:t>Proposed budget plan for the next years based on the COA and the planned allocations based on their priorities and work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28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Consolidation of all public investments plans nation-wide classified by externally and domestically financed projects of Tier 1 SUs at central &amp; local level and submit consolidated public investment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Public Investment Plan</a:t>
                      </a:r>
                    </a:p>
                    <a:p>
                      <a:r>
                        <a:rPr lang="en-US" sz="1500" dirty="0"/>
                        <a:t>Macroeconomic indicators/values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650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500" dirty="0"/>
                        <a:t>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/>
                        <a:t>Consolidating and drafting the medium-term state budget plan and submit the State Budget Policy Statement (SBPS) by MoF to GoL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State Budget Policy Statement-</a:t>
                      </a:r>
                    </a:p>
                    <a:p>
                      <a:pPr marL="342900" indent="-342900">
                        <a:buAutoNum type="alphaLcPeriod"/>
                      </a:pPr>
                      <a:r>
                        <a:rPr lang="en-US" sz="1500" dirty="0"/>
                        <a:t>Macroeconomic circumstances</a:t>
                      </a:r>
                    </a:p>
                    <a:p>
                      <a:pPr marL="342900" indent="-342900">
                        <a:buAutoNum type="alphaLcPeriod"/>
                      </a:pPr>
                      <a:r>
                        <a:rPr lang="en-US" sz="1500" dirty="0"/>
                        <a:t>Fiscal policies and estimation of the medium-term aggregate resource envelop</a:t>
                      </a:r>
                    </a:p>
                    <a:p>
                      <a:pPr marL="342900" indent="-342900">
                        <a:buAutoNum type="alphaLcPeriod"/>
                      </a:pPr>
                      <a:r>
                        <a:rPr lang="en-US" sz="1500" dirty="0"/>
                        <a:t>Annual state budget plan</a:t>
                      </a:r>
                    </a:p>
                    <a:p>
                      <a:pPr marL="342900" indent="-342900">
                        <a:buAutoNum type="alphaLcPeriod"/>
                      </a:pPr>
                      <a:r>
                        <a:rPr lang="en-US" sz="1500" dirty="0"/>
                        <a:t>Fiscal risks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345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980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BBDB73B7B59014CA39153E6A4792C2F" ma:contentTypeVersion="0" ma:contentTypeDescription="Create a new document." ma:contentTypeScope="" ma:versionID="14fd1326cf5981c38758d581a5bbef1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581f8e8412fe39a3794ccf6300b7a2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D570BF-D215-4F33-88A8-FD32963C9B03}"/>
</file>

<file path=customXml/itemProps2.xml><?xml version="1.0" encoding="utf-8"?>
<ds:datastoreItem xmlns:ds="http://schemas.openxmlformats.org/officeDocument/2006/customXml" ds:itemID="{D9139799-77DD-434C-BF32-D6066CE8C8A9}"/>
</file>

<file path=customXml/itemProps3.xml><?xml version="1.0" encoding="utf-8"?>
<ds:datastoreItem xmlns:ds="http://schemas.openxmlformats.org/officeDocument/2006/customXml" ds:itemID="{E6167065-D8D0-41C1-A1F2-519838A363A2}"/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370</Words>
  <Application>Microsoft Office PowerPoint</Application>
  <PresentationFormat>Widescreen</PresentationFormat>
  <Paragraphs>71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Budget Preparation Calendar</vt:lpstr>
      <vt:lpstr>Budget Preparation Calendar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Bharat</dc:creator>
  <cp:lastModifiedBy>Sharma, Bharat</cp:lastModifiedBy>
  <cp:revision>1</cp:revision>
  <dcterms:created xsi:type="dcterms:W3CDTF">2025-07-22T05:05:13Z</dcterms:created>
  <dcterms:modified xsi:type="dcterms:W3CDTF">2025-07-22T05:43:01Z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0x010100CBBDB73B7B59014CA39153E6A4792C2F</vt:lpwstr>
  </property>
</Properties>
</file>